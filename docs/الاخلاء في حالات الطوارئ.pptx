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5"/>
    <p:sldMasterId id="2147483660" r:id="rId6"/>
    <p:sldMasterId id="2147483684" r:id="rId7"/>
    <p:sldMasterId id="2147483672" r:id="rId8"/>
  </p:sldMasterIdLst>
  <p:notesMasterIdLst>
    <p:notesMasterId r:id="rId24"/>
  </p:notesMasterIdLst>
  <p:sldIdLst>
    <p:sldId id="256" r:id="rId9"/>
    <p:sldId id="257" r:id="rId10"/>
    <p:sldId id="24067" r:id="rId11"/>
    <p:sldId id="24068" r:id="rId12"/>
    <p:sldId id="24069" r:id="rId13"/>
    <p:sldId id="24070" r:id="rId14"/>
    <p:sldId id="24071" r:id="rId15"/>
    <p:sldId id="24072" r:id="rId16"/>
    <p:sldId id="24073" r:id="rId17"/>
    <p:sldId id="24074" r:id="rId18"/>
    <p:sldId id="24075" r:id="rId19"/>
    <p:sldId id="24076" r:id="rId20"/>
    <p:sldId id="24077" r:id="rId21"/>
    <p:sldId id="24078" r:id="rId22"/>
    <p:sldId id="24106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8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914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23911-484F-4E62-9487-1DCF55D4BA23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E41C3-0971-4E58-A604-32AC5CBE79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20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E41C3-0971-4E58-A604-32AC5CBE79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935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D261-224C-4A29-A477-5CE26791EB51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F70D-E8B4-4929-A40E-9D3856291359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C3EE-540E-4514-822C-CBCBBF1DC1A3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54B6-B4C6-428E-B4F5-1B0D8030282B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1C5A-B6E6-432C-BF87-8155A77EB920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92-FEAA-4088-852C-95FD4C8AC34C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95F8-E699-42F4-B7EF-2AE4F543F6A6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D8D9-7E22-4A26-9612-C96EC33C5C1C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15453-4837-45EC-B537-764A5A20E6DA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53DC4-45F4-4BBD-B3DD-BF7E38BA7F79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924C-3912-48F7-814B-F59A96212789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5894-1929-4844-912B-491376F45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C20F2-47F5-4013-A8F8-65176F5FD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6726B-42C3-4CFF-84E2-3A635D7B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CB366-84C1-4968-A38B-C8C3BF39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1901B-DC38-41C2-AD03-1AF6AA5D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5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54D38-EBCB-4289-A66A-8211D30B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0C8F-F92D-46DD-BB5C-EF68987F6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FFC16-B8BD-404E-912F-D1366068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F7A65-4780-43C4-957D-50DEA7D3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BD582-32C0-40CD-A962-3B1B779A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24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0985-6FEA-4843-82FF-8CC5EE78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21C9C-20BF-4484-9723-43BA09805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95B4B-C091-4261-85B4-49D74881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94179-8E28-4296-895F-7D35BB3B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376D3-6FA1-408A-A9BB-EFCD9F34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73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6BC2-64B3-446D-A114-73C64627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04118-8934-4F98-9E09-F0740494F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301DC-3830-4964-BD85-2977B85F5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64069-7434-4B36-9530-907F9CB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ED9AB-7601-4891-AB6D-65DAF057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E2A9F-683B-430C-8959-4E623151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15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930F-039E-4850-AA22-A6B6E3F7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620C5-55AC-44AB-966E-E05A022B0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96A72-CE2B-4471-A9D5-9655180C5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042C53-7288-49D8-9900-9A43CF5A1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6773A-17E2-435A-B7AA-A6BFA3DF5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AE8B3-1928-4B15-B802-C66A85C5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8A1BAC-2424-41A9-AE60-6881FA7B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1C5AAF-F3C6-4FF1-BB53-96AB6418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11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9633-5D2E-4C99-B88D-832DE26A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D8E14-B4DC-4402-9F48-1AEB88E5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9D33F-BBC0-4BE1-89DA-5AA614DD8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4A268-1C2A-41E3-8A98-2FFC412B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708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396A0-5E7A-4734-93D2-956C264B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EB5C2-C916-464D-A5D5-0F357E88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CA667-42C2-4F24-99CB-6D0ADCC7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50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42A4-63B5-4FEA-93C5-31C2F6D4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07CD2-88A6-40A9-AE4E-A8820773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462AA-0431-4DA3-A72F-6B5FC320D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6B1FF-3CFF-439F-B134-6340F1BC5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9BE48-AF21-4705-8CA1-014036FA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2529D-3278-4BE3-A28B-88EDAA37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31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8ABBA-313A-4DA3-9A95-3A48A645C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45B26-B987-4082-BF45-B6AC742E9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805D0-D106-4078-A602-688021246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5EFFB-0B3E-4C22-BFB2-11AA08CE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94274-7198-4C8E-917F-D686E51F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4F2CE-337A-43A4-B72B-CF8EA8D1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07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2F0F-4834-42E5-AAE6-78FC9D80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1974A-E31A-4D42-8142-9FE8C2FDF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09DE3-8964-4004-BDBB-69914C8F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AAE33-04F5-4048-9CCA-86597E07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D63F4-15AA-4F09-B73B-3D914AA3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3C928-2EE7-4819-B119-F004F982A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7417A-85DA-491F-9380-2ACFDA95A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8F47B-6E9E-47EE-A0A0-4A9DB8E02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9BFE4-956D-4D4A-A174-134D05192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4961A-D4DF-43A8-AB6F-D231D77E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8DCC-DDF7-4F74-B137-230EABF51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929FC-ED43-49EC-AE6C-DB5DDFFA1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B26C7-37F3-48B3-BEAA-71326CBC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D38A3-D3EE-49EA-A958-F39131E3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C7E3E-833B-4D34-B11A-E9C6649A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758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9E19-39A7-4016-809A-F2859B5F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FC79A-7A37-405E-8FC6-77E273FF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39E32-185F-41D6-BA7A-81D9375C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75811-3CB9-45B4-AB10-AD1487C0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D2CE4-5610-4237-807A-99722621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390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B7C8-9B97-41D3-A47B-B9C8741C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D83F4-EFBF-4C03-AEA9-67AFF3A72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FC7BD-BBC9-4F38-9FDD-1DD2F319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C22CB-15E8-4115-B255-504D667A6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CC5F5-9C74-427E-9DFB-58BE7C3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589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A58F-E8AF-4964-B5A8-14604E3D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2C376-9A39-4AD4-812F-27DA31093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024A6-908B-41A4-91C5-31AA95979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88FF6-2408-48B2-BCFB-DFCC665B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18D87-1369-42AA-AE64-9F22E6B1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E1FA7-B9FC-49B5-893F-D708F3EE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069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C10E-760C-413B-80AB-5B62B5E2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F6A48-40DD-4C56-86F4-8E4CB5A23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8FE3B-D0C1-43E6-8749-47A63457B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553FE-4888-432F-A688-8C137D418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421DF-8C3C-4EBE-8674-494C0F89D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4F191-D598-41D7-94C6-012F8376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5B1E7-337A-4869-8AF4-0D720159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639D9-161E-4293-981E-584A5444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948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96CE-9398-4089-82B3-C81124FD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3B574-017D-4874-A876-296794AE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15A03-9C25-48D8-A7DD-EA03C1A6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204CD-2969-450D-85E3-67D69099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740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5B597-85DB-4D48-A379-A72CDD22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9879F-9B15-4BE9-8CDE-B470D28C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5FCB9-A446-4982-9C6D-FC26C960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531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C97A-D88C-454B-AEEC-2AF00363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35F17-F400-4821-A308-3A62FD26D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47667-BC45-466F-8167-11CAC9C54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63242-A575-46D4-B681-BA7A7809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20C8C-30AA-4DD5-98E1-AE205EAD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85E1A-9CD4-453B-86D2-184560B3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094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04D-B1FC-4723-8380-12732728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70485-8ED1-4F37-9D62-DFC189D70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6AC8B-ACFF-44FC-AF58-98D53AE46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3154E-7D4D-470B-AFD0-4F460A17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39C4F-DCCD-4220-832C-E985368F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3E063-D0B8-46F7-AEA2-62C5114B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446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9BD0-846D-4EDA-A304-5D0F6AA90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EF2A6-5A16-4431-800B-31D56EE89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F855-DEAD-4678-96E6-D5D0015A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858B9-F99B-44EC-9B5D-1541B41C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42F1D-08C7-4359-8B69-81D1B870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99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049E06-A307-46CA-AE23-C7C8C73BF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292AC-E501-4FDE-80D5-EA66843F0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B5DB-07C5-4A57-905B-2B95AB10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404B4-DA9A-491F-93E7-32F30756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82A8-4791-454E-A1A6-183E72632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410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22ED-55FE-485C-B8BD-EF7D7AAB2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2CF07-20CE-4416-B570-C3987D04D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15D37-FB9C-418D-837D-D710C3DFF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4BAF4-17C5-4B5D-969B-F3A61714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00FE3-8A85-481D-BC44-281A9CAE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789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2431-8708-4E3F-8E29-81952324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A4F4A-DD96-4AF3-ADC8-E06F8B63D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753A3-4DAB-43D5-BBB0-97A25BE7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39024-E66A-4C07-9816-DEC9D9E2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E6C1B-0E13-4385-AE51-33AE849F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860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1555-13CF-45C6-A30E-BCA24B5A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8825C-FF9A-4A73-A201-B99F088B9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1840A-55E1-4CCF-BEDE-C7A71E86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C06B-275D-40BA-9474-3AA0CD44A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242FD-F9AE-45B3-8294-D58C8113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62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5418-6FB9-4DCF-8D7D-B511ACED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07BDB-2E96-4891-8DF8-B0AD66CE9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6F7EE-6510-4736-AF2C-316684AC7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D6D93-CD99-45DB-B715-CA76DC48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9774F-3355-4AA9-B290-76C8D1F1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3BFEC-29D4-49F0-83AE-B93DC3AF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125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863C-497C-4410-9567-BBAD0A92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C2154-07F8-41E7-8F2F-AF7E8CA0A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A7F2C-ED22-4BA4-9AC6-B4DD0459C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E1C44-E3AC-41C6-97AB-C78C3A7C8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F8A7F-2026-44EA-860E-3710CB3C3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0D443B-E384-4EE1-82F7-7E732FDCD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91D628-8FCB-45AB-8372-79FB5CC5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F390F-13CC-4B62-94B0-D1DCBC70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487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D83A-D589-4F5B-BED8-5009A705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906C9A-6FA7-4960-B112-560E3584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8E0D4-0911-46E4-928A-5B4C376E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C18B9-9455-4562-805A-07E3CD43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933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82726-6526-4EF9-9E62-49650ED0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727E4-C161-410D-9DFF-55A6B624C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D044A-8B1C-4EC5-88B9-F52DFD56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803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8E36-EE11-443C-BE35-5656E0BE9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68354-6539-42EE-A792-537FC62D9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F7D09-1690-4C18-AD5A-3B0DCA50B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232AE-C8F9-41D6-957C-CFEA8D3C9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7F841-5973-4B69-BF5B-A86420340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044D9-3D93-40F4-BA7E-553F0A59C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36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3BF2-D4A0-433D-9B0B-62604392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6B93C-FF99-4F3F-891A-EE17D6530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1349E-B535-4385-86CA-9B524CD1A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905D9-4E02-4DB2-B446-66D56057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F1DDE-61D5-4D91-B7DF-4941821E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6B4AA-8B02-41D2-B4AB-232E94CD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603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C5EBE-0D3A-4064-85A2-29F7EAB9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C666B-EDBC-40BE-8101-AA36EFFE6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B118B-5FDB-4C7A-A836-FDB62867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A464E-5BA7-4868-8118-D477B1FE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5F30D-1770-4466-A7FC-4A9C0200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210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B3C08-3C5A-41E9-9531-B50E300E1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AEA13-5920-4318-94E5-8F9B7D75E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434DE-1CD6-454A-A86E-E6307F4D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EA2BC-98D3-44E0-B078-E180D6E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DFD46-A876-4152-AD2F-5205DE37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1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53CCC-2177-4600-8A4A-85C631E3616E}" type="datetime1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086BE-50BF-4D3B-B1FA-F21546B28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8" y="-46036"/>
            <a:ext cx="5890149" cy="75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0F3F0-0CE4-47D7-BC7B-425E436F5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F745F-9502-4CCB-96C4-86A490487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F96E7-96C0-4B5A-88C2-AC495311A6F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17E07-8FCC-491D-9FE0-3705A7B32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C85E3-7200-45BC-8100-0AA84348C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612D1-C54A-4B43-8139-0E031684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1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>
              <a:lumMod val="1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C19CDC-35F2-4A91-86B0-A2F127E41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1FDBA-ADF3-4771-AA91-928906FBF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8A02D-9D9D-44A5-A8C9-D335A6682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DA9DA-2B90-4420-9632-31E0369C992A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BEA51-22AC-4FCC-8168-A2AF1F4D0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36959-67D6-4972-A851-8FECA9B64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9C4D0-B626-43FB-B1FF-5C1EFDB2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3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DEC8B-D1BE-441E-89A3-0CA878B73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CDF97-FE18-4208-80C6-31FF5DD6B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7C77E-67B0-4BA0-AD65-FB6FDF8A1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5FA43-A9BD-4ADB-BF58-BE42D948269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9BC4A-BBD7-4DDD-9F3C-91B4DC6A1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52B07-7D1D-4190-9A68-021B1537B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A056F-10CD-4B5E-B0B6-D7EB635BDA3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272F62-A291-41E9-A52E-400B4BED8CC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2"/>
            <a:ext cx="2813248" cy="298487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797E7B8B-E324-4B45-AC69-E063D470B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9525" y="6781800"/>
            <a:ext cx="916305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94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F51238-9F01-4D01-9E2A-9432E5689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" y="3031"/>
            <a:ext cx="9124947" cy="6848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52E3AF-5446-4092-B981-D4DEAFF757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44" y="2249269"/>
            <a:ext cx="2024913" cy="2475130"/>
          </a:xfrm>
          <a:prstGeom prst="rect">
            <a:avLst/>
          </a:prstGeom>
        </p:spPr>
      </p:pic>
      <p:sp>
        <p:nvSpPr>
          <p:cNvPr id="6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553200" y="3048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C09F674-8D89-4FDF-8D30-3623CBDD872D}" type="datetime2">
              <a:rPr lang="en-US" smtClean="0">
                <a:solidFill>
                  <a:schemeClr val="bg2">
                    <a:lumMod val="10000"/>
                  </a:schemeClr>
                </a:solidFill>
              </a:rPr>
              <a:pPr>
                <a:defRPr/>
              </a:pPr>
              <a:t>Tuesday, September 10, 2024</a:t>
            </a:fld>
            <a:endParaRPr lang="ar-AE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Date Placeholder 3"/>
          <p:cNvSpPr txBox="1">
            <a:spLocks/>
          </p:cNvSpPr>
          <p:nvPr/>
        </p:nvSpPr>
        <p:spPr>
          <a:xfrm>
            <a:off x="3514726" y="6502559"/>
            <a:ext cx="2133600" cy="24938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1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7826A-F7FB-42AC-824E-A67E4E82438D}"/>
              </a:ext>
            </a:extLst>
          </p:cNvPr>
          <p:cNvSpPr txBox="1"/>
          <p:nvPr/>
        </p:nvSpPr>
        <p:spPr>
          <a:xfrm>
            <a:off x="468702" y="5834107"/>
            <a:ext cx="378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2400" dirty="0">
                <a:solidFill>
                  <a:prstClr val="black"/>
                </a:solidFill>
                <a:latin typeface="Calibri"/>
              </a:rPr>
              <a:t>قسم السلامة والبيئة والجدارة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381CD1-465B-49C9-9DCB-BA86137ACED1}"/>
              </a:ext>
            </a:extLst>
          </p:cNvPr>
          <p:cNvSpPr txBox="1">
            <a:spLocks/>
          </p:cNvSpPr>
          <p:nvPr/>
        </p:nvSpPr>
        <p:spPr>
          <a:xfrm>
            <a:off x="-1642739" y="5089525"/>
            <a:ext cx="788670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3600" b="1" u="sng" dirty="0">
                <a:solidFill>
                  <a:srgbClr val="9B874F"/>
                </a:solidFill>
              </a:rPr>
              <a:t>الإخلاء في حالات الطوارئ</a:t>
            </a:r>
            <a:endParaRPr lang="en-US" sz="3600" b="1" u="sng" dirty="0">
              <a:solidFill>
                <a:srgbClr val="9B874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158D919-BC1F-4FA7-A2BE-4F49040E1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" y="1"/>
            <a:ext cx="9125029" cy="6857999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57B3F3B9-AE48-44A0-B0FD-D1CC33DF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AE" dirty="0">
                <a:solidFill>
                  <a:srgbClr val="9B874F"/>
                </a:solidFill>
              </a:rPr>
              <a:t>عناصر المحاضرة</a:t>
            </a:r>
            <a:endParaRPr lang="en-US" dirty="0">
              <a:solidFill>
                <a:srgbClr val="9B874F"/>
              </a:solidFill>
              <a:cs typeface="+mn-cs"/>
            </a:endParaRP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5C6C7E-47C7-457A-8A2E-E419DA5C4605}" type="datetime2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Tuesday, September 10, 2024</a:t>
            </a:fld>
            <a:endParaRPr kumimoji="0" lang="ar-AE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Date Placeholder 3"/>
          <p:cNvSpPr txBox="1">
            <a:spLocks/>
          </p:cNvSpPr>
          <p:nvPr/>
        </p:nvSpPr>
        <p:spPr>
          <a:xfrm>
            <a:off x="35052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Date Placeholder 3"/>
          <p:cNvSpPr txBox="1">
            <a:spLocks/>
          </p:cNvSpPr>
          <p:nvPr/>
        </p:nvSpPr>
        <p:spPr>
          <a:xfrm>
            <a:off x="7814818" y="6674730"/>
            <a:ext cx="1385455" cy="2127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الطيران المشترك  |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6667820"/>
            <a:ext cx="20292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JOINT AVIATION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5E895B-9DE2-4108-8B0D-B4EF85BDA5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77" y="505887"/>
            <a:ext cx="914400" cy="1122422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B4B2F84-79DB-42F8-A2EF-C55567745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982" y="1868487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ar-SA" dirty="0"/>
              <a:t> </a:t>
            </a:r>
            <a:r>
              <a:rPr lang="ar-SA" sz="2400" dirty="0"/>
              <a:t>عناصر خطة الإخلاء</a:t>
            </a:r>
          </a:p>
          <a:p>
            <a:pPr marL="514350" indent="-514350">
              <a:buFont typeface="+mj-lt"/>
              <a:buAutoNum type="arabicPeriod"/>
            </a:pPr>
            <a:r>
              <a:rPr lang="ar-SA" sz="2400" dirty="0"/>
              <a:t> واجبات فريق الاخلاء</a:t>
            </a:r>
          </a:p>
          <a:p>
            <a:pPr marL="514350" indent="-514350">
              <a:buFont typeface="+mj-lt"/>
              <a:buAutoNum type="arabicPeriod"/>
            </a:pPr>
            <a:r>
              <a:rPr lang="ar-SA" sz="2400" dirty="0"/>
              <a:t>التصرف عند حدوث حريق </a:t>
            </a:r>
          </a:p>
          <a:p>
            <a:pPr marL="514350" indent="-514350">
              <a:buFont typeface="+mj-lt"/>
              <a:buAutoNum type="arabicPeriod"/>
            </a:pPr>
            <a:r>
              <a:rPr lang="ar-SA" sz="2400" dirty="0"/>
              <a:t> أنواع طفايات الحريق</a:t>
            </a:r>
          </a:p>
          <a:p>
            <a:pPr marL="514350" indent="-514350">
              <a:buFont typeface="+mj-lt"/>
              <a:buAutoNum type="arabicPeriod"/>
            </a:pPr>
            <a:r>
              <a:rPr lang="ar-SA" sz="2400" dirty="0"/>
              <a:t> احتياطات وإرشادات عامة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المقدمة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87DFED-E9F7-423E-BDAE-1FF67FFDB82D}"/>
              </a:ext>
            </a:extLst>
          </p:cNvPr>
          <p:cNvSpPr/>
          <p:nvPr/>
        </p:nvSpPr>
        <p:spPr>
          <a:xfrm>
            <a:off x="457200" y="1752600"/>
            <a:ext cx="8229600" cy="2802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AE" sz="2400" b="1" dirty="0"/>
              <a:t>تتضمن</a:t>
            </a:r>
            <a:r>
              <a:rPr lang="ar-SA" sz="2400" b="1" dirty="0"/>
              <a:t> خطة الحريق</a:t>
            </a:r>
            <a:r>
              <a:rPr lang="ar-AE" sz="2400" b="1" dirty="0"/>
              <a:t> كيفية إخلاء المبـني مـن شـاغليھا فـي</a:t>
            </a:r>
          </a:p>
          <a:p>
            <a:pPr algn="ctr" rtl="1">
              <a:lnSpc>
                <a:spcPct val="150000"/>
              </a:lnSpc>
            </a:pPr>
            <a:r>
              <a:rPr lang="ar-AE" sz="2400" b="1" dirty="0"/>
              <a:t>الحـالات الطارئـة واتخـاذ كافـة الإجـراءات اللازمـة لتـأمين سلامتهم وكفالـة</a:t>
            </a:r>
            <a:r>
              <a:rPr lang="ar-SA" sz="2400" b="1" dirty="0"/>
              <a:t> </a:t>
            </a:r>
            <a:r>
              <a:rPr lang="ar-AE" sz="2400" b="1" dirty="0"/>
              <a:t>الطمأنينة والاستقرار والأمن </a:t>
            </a:r>
            <a:r>
              <a:rPr lang="ar-AE" sz="2400" b="1" dirty="0" err="1"/>
              <a:t>لھم</a:t>
            </a:r>
            <a:r>
              <a:rPr lang="ar-AE" sz="2400" b="1" dirty="0"/>
              <a:t>، وسوف نستعرض في ھـذا الـدليل مجموعـة</a:t>
            </a:r>
            <a:r>
              <a:rPr lang="ar-SA" sz="2400" b="1" dirty="0"/>
              <a:t> </a:t>
            </a:r>
            <a:r>
              <a:rPr lang="ar-AE" sz="2400" b="1" dirty="0"/>
              <a:t>من التعليمات والإرشادات الواجب تنفيذھا لضمان نجـاح عمليـات الإخـلاء فـي</a:t>
            </a:r>
            <a:r>
              <a:rPr lang="ar-SA" sz="2400" b="1" dirty="0"/>
              <a:t> </a:t>
            </a:r>
            <a:r>
              <a:rPr lang="ar-AE" sz="2400" b="1" dirty="0"/>
              <a:t>حالات الطوارئ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2010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أهداف الخطة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982F4C-A147-4436-B669-75047089E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9014"/>
            <a:ext cx="8458200" cy="3699972"/>
          </a:xfrm>
        </p:spPr>
        <p:txBody>
          <a:bodyPr>
            <a:no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ar-SA" sz="2000" b="1" dirty="0"/>
              <a:t>1</a:t>
            </a:r>
            <a:r>
              <a:rPr lang="ar-SA" sz="1800" b="1" dirty="0"/>
              <a:t>. 	</a:t>
            </a:r>
            <a:r>
              <a:rPr lang="ar-AE" sz="1800" b="0" dirty="0"/>
              <a:t>إخلاء </a:t>
            </a:r>
            <a:r>
              <a:rPr lang="ar-SA" sz="1800" b="0" dirty="0"/>
              <a:t>الطوابق</a:t>
            </a:r>
            <a:r>
              <a:rPr lang="ar-AE" sz="1800" b="0" dirty="0"/>
              <a:t> مـن شـاغليھا فـور سـماع جـرس إنـذار الحريـق وذلـك</a:t>
            </a:r>
            <a:r>
              <a:rPr lang="ar-SA" sz="1800" b="0" dirty="0"/>
              <a:t> بتوجيههم </a:t>
            </a:r>
            <a:r>
              <a:rPr lang="ar-AE" sz="1800" b="0" dirty="0"/>
              <a:t>إل</a:t>
            </a:r>
            <a:r>
              <a:rPr lang="ar-SA" sz="1800" b="0" dirty="0"/>
              <a:t>ى</a:t>
            </a:r>
            <a:r>
              <a:rPr lang="ar-AE" sz="1800" b="0" dirty="0"/>
              <a:t> نقاط التجمع المحددة بكل مبنى</a:t>
            </a:r>
            <a:r>
              <a:rPr lang="ar-SA" sz="1800" b="0" dirty="0"/>
              <a:t>.</a:t>
            </a:r>
            <a:endParaRPr lang="ar-AE" sz="1800" b="0" dirty="0"/>
          </a:p>
          <a:p>
            <a:pPr marL="0" indent="0" algn="r" rtl="1">
              <a:lnSpc>
                <a:spcPct val="150000"/>
              </a:lnSpc>
              <a:buNone/>
            </a:pPr>
            <a:r>
              <a:rPr lang="ar-SA" sz="1800" b="1" dirty="0"/>
              <a:t>2. 	</a:t>
            </a:r>
            <a:r>
              <a:rPr lang="ar-AE" sz="1800" b="0" dirty="0"/>
              <a:t>تشـكيل وتـدريب فريـق </a:t>
            </a:r>
            <a:r>
              <a:rPr lang="ar-SA" sz="1800" b="0" dirty="0"/>
              <a:t>الحريق والاخلاء والاسعاف </a:t>
            </a:r>
            <a:r>
              <a:rPr lang="ar-AE" sz="1800" b="0" dirty="0"/>
              <a:t>بكـل مبنـى</a:t>
            </a:r>
            <a:r>
              <a:rPr lang="ar-SA" sz="1800" b="0" dirty="0"/>
              <a:t> </a:t>
            </a:r>
            <a:r>
              <a:rPr lang="ar-AE" sz="1800" b="0" dirty="0"/>
              <a:t>وتحديد الواجبات</a:t>
            </a:r>
            <a:r>
              <a:rPr lang="ar-SA" sz="1800" b="0" dirty="0"/>
              <a:t> </a:t>
            </a:r>
            <a:r>
              <a:rPr lang="ar-AE" sz="1800" b="0" dirty="0"/>
              <a:t>والمھام المنوطة بكـل منھـا لتكـون بمثابـة إطـار عـام</a:t>
            </a:r>
            <a:r>
              <a:rPr lang="ar-SA" sz="1800" b="0" dirty="0"/>
              <a:t> </a:t>
            </a:r>
            <a:r>
              <a:rPr lang="ar-AE" sz="1800" b="0" dirty="0"/>
              <a:t>لتنفيذ خطط الإخلاء ومكافحة الحرائق وعمليات الإنقاذ ودلـيلاً مرشـداً</a:t>
            </a:r>
            <a:r>
              <a:rPr lang="ar-SA" sz="1800" b="0" dirty="0"/>
              <a:t> </a:t>
            </a:r>
            <a:r>
              <a:rPr lang="ar-AE" sz="1800" b="0" dirty="0"/>
              <a:t>في سبيل حماية الأفراد بالتنسيق والتعـاون مـع </a:t>
            </a:r>
            <a:r>
              <a:rPr lang="ar-SA" sz="1800" b="0" dirty="0"/>
              <a:t>شركة/ كتيبة الإطفاء و</a:t>
            </a:r>
            <a:r>
              <a:rPr lang="ar-AE" sz="1800" b="0" dirty="0"/>
              <a:t>إدارات </a:t>
            </a:r>
            <a:r>
              <a:rPr lang="ar-SA" sz="1800" b="0" dirty="0"/>
              <a:t>الدفاع المدني </a:t>
            </a:r>
            <a:r>
              <a:rPr lang="ar-AE" sz="1800" b="0" dirty="0"/>
              <a:t>والجهات الأخرى.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ar-SA" sz="1800" b="1" dirty="0"/>
              <a:t>3. 	</a:t>
            </a:r>
            <a:r>
              <a:rPr lang="ar-AE" sz="1800" b="0" dirty="0"/>
              <a:t>الســيطرة علــ</a:t>
            </a:r>
            <a:r>
              <a:rPr lang="ar-SA" sz="1800" b="0" dirty="0"/>
              <a:t>ى</a:t>
            </a:r>
            <a:r>
              <a:rPr lang="ar-AE" sz="1800" b="0" dirty="0"/>
              <a:t> الخطــر ومنــع انتشار الحرائــق</a:t>
            </a:r>
            <a:r>
              <a:rPr lang="ar-SA" sz="1800" b="0" dirty="0"/>
              <a:t>،</a:t>
            </a:r>
            <a:r>
              <a:rPr lang="ar-AE" sz="1800" b="0" dirty="0"/>
              <a:t> والعمــل علــ</a:t>
            </a:r>
            <a:r>
              <a:rPr lang="ar-SA" sz="1800" b="0" dirty="0"/>
              <a:t>ى</a:t>
            </a:r>
            <a:r>
              <a:rPr lang="ar-AE" sz="1800" b="0" dirty="0"/>
              <a:t> تقليــل</a:t>
            </a:r>
            <a:r>
              <a:rPr lang="ar-SA" sz="1800" b="0" dirty="0"/>
              <a:t> </a:t>
            </a:r>
            <a:r>
              <a:rPr lang="ar-AE" sz="1800" b="0" dirty="0"/>
              <a:t>الخسائر</a:t>
            </a:r>
            <a:r>
              <a:rPr lang="ar-SA" sz="1800" b="0" dirty="0"/>
              <a:t> </a:t>
            </a:r>
            <a:r>
              <a:rPr lang="ar-AE" sz="1800" b="0" dirty="0"/>
              <a:t>الناجمة عنھا من خلال استخدام الوسائل الفعالة</a:t>
            </a:r>
            <a:r>
              <a:rPr lang="ar-SA" sz="1800" b="0" dirty="0"/>
              <a:t> </a:t>
            </a:r>
            <a:r>
              <a:rPr lang="ar-AE" sz="1800" b="0" dirty="0"/>
              <a:t>لمكافحة الحرائق.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30765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عناصر خطة الإخلاء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168414-DE77-431F-A99A-9CF9C38A1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752600"/>
            <a:ext cx="8763000" cy="3579849"/>
          </a:xfrm>
        </p:spPr>
        <p:txBody>
          <a:bodyPr>
            <a:normAutofit/>
          </a:bodyPr>
          <a:lstStyle/>
          <a:p>
            <a:pPr algn="r" rtl="1"/>
            <a:r>
              <a:rPr lang="ar-AE" b="1" dirty="0"/>
              <a:t>نجاح الخطة </a:t>
            </a:r>
            <a:r>
              <a:rPr lang="ar-SA" b="1" dirty="0"/>
              <a:t>ت</a:t>
            </a:r>
            <a:r>
              <a:rPr lang="ar-AE" b="1" dirty="0" err="1"/>
              <a:t>عتمد</a:t>
            </a:r>
            <a:r>
              <a:rPr lang="ar-AE" b="1" dirty="0"/>
              <a:t> على:</a:t>
            </a:r>
            <a:endParaRPr lang="ar-SA" b="1" dirty="0"/>
          </a:p>
          <a:p>
            <a:pPr algn="r" rtl="1"/>
            <a:endParaRPr lang="ar-AE" sz="2400" b="0" dirty="0"/>
          </a:p>
          <a:p>
            <a:pPr marL="0" indent="0" algn="r" rtl="1">
              <a:lnSpc>
                <a:spcPct val="150000"/>
              </a:lnSpc>
              <a:buNone/>
            </a:pPr>
            <a:r>
              <a:rPr lang="ar-SA" sz="2400" b="1" dirty="0"/>
              <a:t>1. 	</a:t>
            </a:r>
            <a:r>
              <a:rPr lang="ar-AE" sz="2400" b="0" dirty="0"/>
              <a:t>فريق </a:t>
            </a:r>
            <a:r>
              <a:rPr lang="ar-SA" sz="2400" b="0" dirty="0"/>
              <a:t>الإخلاء </a:t>
            </a:r>
            <a:r>
              <a:rPr lang="ar-AE" sz="2400" b="0" dirty="0"/>
              <a:t>ومدى تدريبه</a:t>
            </a:r>
            <a:r>
              <a:rPr lang="ar-SA" sz="2400" b="0" dirty="0"/>
              <a:t>م</a:t>
            </a:r>
            <a:r>
              <a:rPr lang="ar-AE" sz="2400" b="0" dirty="0"/>
              <a:t> علـى كيفيـة اكتشـاف إشـارات الإنـذار</a:t>
            </a:r>
            <a:r>
              <a:rPr lang="ar-SA" sz="2400" b="0" dirty="0"/>
              <a:t> </a:t>
            </a:r>
            <a:r>
              <a:rPr lang="ar-AE" sz="2400" b="0" dirty="0"/>
              <a:t>واتخاذ الإجراءات الوقائية والمواجھة الفعلية واحتواء الضرر.</a:t>
            </a:r>
            <a:endParaRPr lang="ar-SA" sz="2400" b="0" dirty="0"/>
          </a:p>
          <a:p>
            <a:pPr marL="0" indent="0" algn="r" rtl="1">
              <a:buNone/>
            </a:pPr>
            <a:endParaRPr lang="ar-AE" sz="2400" b="0" dirty="0"/>
          </a:p>
          <a:p>
            <a:pPr marL="0" indent="0" algn="r" rtl="1">
              <a:buNone/>
            </a:pPr>
            <a:r>
              <a:rPr lang="ar-SA" sz="2400" b="1" dirty="0"/>
              <a:t>2. 	</a:t>
            </a:r>
            <a:r>
              <a:rPr lang="ar-AE" sz="2400" b="0" dirty="0"/>
              <a:t>توفير الوسائل والمعدات اللازمـة ودليـل التعليمـات التـي تـنظم أسـلوب</a:t>
            </a:r>
            <a:r>
              <a:rPr lang="ar-SA" sz="2400" b="0" dirty="0"/>
              <a:t> </a:t>
            </a:r>
            <a:r>
              <a:rPr lang="ar-AE" sz="2400" b="0" dirty="0"/>
              <a:t>تنفيذ الخطة</a:t>
            </a:r>
            <a:r>
              <a:rPr lang="ar-SA" sz="24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7934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واجبات فريق الإخلاء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FE9F69-BC65-4582-9800-78EF8DD22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613" y="1731414"/>
            <a:ext cx="8357587" cy="3395172"/>
          </a:xfrm>
        </p:spPr>
        <p:txBody>
          <a:bodyPr>
            <a:noAutofit/>
          </a:bodyPr>
          <a:lstStyle/>
          <a:p>
            <a:pPr algn="r" rtl="1"/>
            <a:r>
              <a:rPr lang="ar-AE" sz="2000" b="1" dirty="0"/>
              <a:t>يتم تشكيل فريق </a:t>
            </a:r>
            <a:r>
              <a:rPr lang="ar-SA" sz="2000" b="1" dirty="0"/>
              <a:t>إخلاء و إطفاء و إسعاف</a:t>
            </a:r>
            <a:r>
              <a:rPr lang="ar-AE" sz="2000" b="1" dirty="0"/>
              <a:t> من شـاغلي المبنـى وتكليـف أعضـائه بالواجبـات</a:t>
            </a:r>
            <a:r>
              <a:rPr lang="ar-SA" sz="2000" b="1" dirty="0"/>
              <a:t> </a:t>
            </a:r>
            <a:r>
              <a:rPr lang="ar-AE" sz="2000" b="1" dirty="0"/>
              <a:t>التالية:</a:t>
            </a:r>
            <a:endParaRPr lang="en-US" sz="2000" b="1" dirty="0"/>
          </a:p>
          <a:p>
            <a:pPr marL="914400" lvl="1" indent="-457200" algn="r" rtl="1">
              <a:lnSpc>
                <a:spcPct val="150000"/>
              </a:lnSpc>
              <a:buAutoNum type="arabicPeriod"/>
            </a:pPr>
            <a:r>
              <a:rPr lang="ar-AE" sz="1800" b="0" dirty="0"/>
              <a:t>إرشاد شاغلي المبنـى إلـى طريـق مسـالك الھـروب ومخـارج الطـوارئ</a:t>
            </a:r>
            <a:r>
              <a:rPr lang="ar-SA" sz="1800" b="0" dirty="0"/>
              <a:t> </a:t>
            </a:r>
            <a:r>
              <a:rPr lang="ar-AE" sz="1800" b="0" dirty="0"/>
              <a:t>ونقاط التجمع.</a:t>
            </a:r>
            <a:endParaRPr lang="ar-SA" sz="1800" b="0" dirty="0"/>
          </a:p>
          <a:p>
            <a:pPr marL="914400" lvl="1" indent="-457200" algn="r" rtl="1">
              <a:lnSpc>
                <a:spcPct val="150000"/>
              </a:lnSpc>
              <a:buAutoNum type="arabicPeriod"/>
            </a:pPr>
            <a:r>
              <a:rPr lang="ar-AE" sz="1800" b="0" dirty="0"/>
              <a:t>نقل الوثائق والأشياء ذات القيمة.</a:t>
            </a:r>
            <a:endParaRPr lang="ar-SA" sz="1800" b="0" dirty="0"/>
          </a:p>
          <a:p>
            <a:pPr marL="914400" lvl="1" indent="-457200" algn="r" rtl="1">
              <a:lnSpc>
                <a:spcPct val="150000"/>
              </a:lnSpc>
              <a:buAutoNum type="arabicPeriod"/>
            </a:pPr>
            <a:r>
              <a:rPr lang="ar-SA" sz="1800" b="0" dirty="0"/>
              <a:t>حراسة المداخل و المخارج للمبنى و عدم السماح بالدخول إليها.</a:t>
            </a:r>
          </a:p>
          <a:p>
            <a:pPr marL="914400" lvl="1" indent="-457200" algn="r" rtl="1">
              <a:lnSpc>
                <a:spcPct val="150000"/>
              </a:lnSpc>
              <a:buAutoNum type="arabicPeriod"/>
            </a:pPr>
            <a:r>
              <a:rPr lang="ar-AE" sz="1800" b="0" dirty="0"/>
              <a:t>تقديم الإسعافات الأولية ورفع الروح المعنوية لشاغلي المبنى</a:t>
            </a:r>
            <a:r>
              <a:rPr lang="ar-SA" sz="1800" b="0" dirty="0"/>
              <a:t>.</a:t>
            </a:r>
          </a:p>
          <a:p>
            <a:pPr marL="914400" lvl="1" indent="-457200" algn="r" rtl="1">
              <a:lnSpc>
                <a:spcPct val="150000"/>
              </a:lnSpc>
              <a:buAutoNum type="arabicPeriod"/>
            </a:pPr>
            <a:r>
              <a:rPr lang="ar-AE" sz="1800" b="0" dirty="0"/>
              <a:t>مكافحة الحرائق ومساعدة فريق الإطفاء والإنقاذ</a:t>
            </a:r>
            <a:r>
              <a:rPr lang="ar-SA" sz="1800" b="0" dirty="0"/>
              <a:t>.</a:t>
            </a:r>
            <a:endParaRPr lang="en-US" sz="1800" b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B2402-8F52-4DC2-8054-3D4A31CC8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815862"/>
            <a:ext cx="3048000" cy="289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1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الخطوات التي يجب إتباعها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6F3D2A-76FE-4667-89A1-87EBC72F3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64430"/>
            <a:ext cx="8274691" cy="3886200"/>
          </a:xfrm>
        </p:spPr>
        <p:txBody>
          <a:bodyPr>
            <a:normAutofit fontScale="25000" lnSpcReduction="20000"/>
          </a:bodyPr>
          <a:lstStyle/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AE" sz="7200" b="0" dirty="0"/>
              <a:t>التحلي بالھدوء وعدم الارتباك.</a:t>
            </a:r>
            <a:endParaRPr lang="ar-SA" sz="7200" b="0" dirty="0"/>
          </a:p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SA" sz="7200" b="0" dirty="0"/>
              <a:t>الاتصال فريق الإطفاء</a:t>
            </a:r>
          </a:p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AE" sz="7200" b="0" dirty="0"/>
              <a:t>إيقاف العمل فوراً</a:t>
            </a:r>
            <a:r>
              <a:rPr lang="ar-SA" sz="7200" b="0" dirty="0"/>
              <a:t>.</a:t>
            </a:r>
          </a:p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SA" sz="7200" b="0" dirty="0"/>
              <a:t>إغلاق أبواب المكاتب.</a:t>
            </a:r>
          </a:p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AE" sz="7200" b="0" dirty="0"/>
              <a:t>قطع التيار الكھربائي عن المكان.</a:t>
            </a:r>
            <a:endParaRPr lang="ar-SA" sz="7200" b="0" dirty="0"/>
          </a:p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AE" sz="7200" dirty="0">
                <a:solidFill>
                  <a:srgbClr val="FF0000"/>
                </a:solidFill>
              </a:rPr>
              <a:t>عدم استخدام المصاعد الكهربائية.</a:t>
            </a:r>
            <a:endParaRPr lang="ar-SA" sz="7200" dirty="0">
              <a:solidFill>
                <a:srgbClr val="FF0000"/>
              </a:solidFill>
            </a:endParaRPr>
          </a:p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AE" sz="7200" b="0" dirty="0"/>
              <a:t>التوجه إلى </a:t>
            </a:r>
            <a:r>
              <a:rPr lang="ar-AE" sz="7200" dirty="0">
                <a:solidFill>
                  <a:srgbClr val="00B050"/>
                </a:solidFill>
              </a:rPr>
              <a:t>نقاط التجمع </a:t>
            </a:r>
            <a:r>
              <a:rPr lang="ar-AE" sz="7200" b="0" dirty="0"/>
              <a:t>من خلال مسالك </a:t>
            </a:r>
            <a:r>
              <a:rPr lang="ar-AE" sz="7200" b="0" dirty="0" err="1"/>
              <a:t>الھروب</a:t>
            </a:r>
            <a:r>
              <a:rPr lang="ar-AE" sz="7200" b="0" dirty="0"/>
              <a:t> ومخـارج الطـوارئ.</a:t>
            </a:r>
            <a:endParaRPr lang="ar-SA" sz="7200" b="0" dirty="0"/>
          </a:p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AE" sz="7200" b="0" dirty="0"/>
              <a:t>التنبيــه علــى العــاملين بعــدم الــركض أو تجــاوز زملائھــم حتــى لا تقــع إصابات </a:t>
            </a:r>
            <a:r>
              <a:rPr lang="ar-AE" sz="7200" b="0" dirty="0" err="1"/>
              <a:t>بينھم</a:t>
            </a:r>
            <a:r>
              <a:rPr lang="ar-AE" sz="7200" b="0" dirty="0"/>
              <a:t>.</a:t>
            </a:r>
            <a:endParaRPr lang="ar-SA" sz="7200" b="0" dirty="0"/>
          </a:p>
          <a:p>
            <a:pPr marL="457200" indent="-457200" algn="r" rtl="1">
              <a:lnSpc>
                <a:spcPct val="150000"/>
              </a:lnSpc>
              <a:buAutoNum type="arabicPeriod"/>
            </a:pPr>
            <a:r>
              <a:rPr lang="ar-AE" sz="7200" b="0" dirty="0"/>
              <a:t>لا تجازف ولا تخاطر بحياتك ولا ترجع إلى المبنى مھما كانـت الأسـباب إلا بعد أن يؤذن لك بذلك من المسئولين </a:t>
            </a:r>
            <a:r>
              <a:rPr lang="ar-AE" b="0" dirty="0"/>
              <a:t>.</a:t>
            </a:r>
            <a:endParaRPr lang="en-US" b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6213B9-E734-47FD-A406-DF7298FD97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6" t="2570" r="21347" b="67442"/>
          <a:stretch/>
        </p:blipFill>
        <p:spPr>
          <a:xfrm>
            <a:off x="34770" y="1981200"/>
            <a:ext cx="560403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1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الصرف عند حدوث حريق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BAA5821-DF5E-4195-A857-A7DF2D1DC5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153096"/>
            <a:ext cx="5410200" cy="5287194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186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أنواع طفايات الحريق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0" name="Picture 9" descr="1">
            <a:extLst>
              <a:ext uri="{FF2B5EF4-FFF2-40B4-BE49-F238E27FC236}">
                <a16:creationId xmlns:a16="http://schemas.microsoft.com/office/drawing/2014/main" id="{0460C9C4-44C7-4E32-9BA7-E93D52D53B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219200"/>
            <a:ext cx="8686800" cy="52309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9493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كيفية استخدام طفاية الحريق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7140D7-D674-4FCA-B953-99BA35F5B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" y="1447800"/>
            <a:ext cx="8401051" cy="4621886"/>
          </a:xfrm>
        </p:spPr>
        <p:txBody>
          <a:bodyPr>
            <a:noAutofit/>
          </a:bodyPr>
          <a:lstStyle/>
          <a:p>
            <a:pPr marL="4572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ar-AE" sz="1800" b="0" dirty="0"/>
              <a:t>إمساك المطفأة جيداً بواسطة مقبض الحمل.</a:t>
            </a:r>
          </a:p>
          <a:p>
            <a:pPr marL="4572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ar-AE" sz="1800" b="0" dirty="0"/>
              <a:t>سحب مسمار الأمان.</a:t>
            </a:r>
          </a:p>
          <a:p>
            <a:pPr marL="4572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ar-AE" sz="1800" b="0" dirty="0"/>
              <a:t>توجيه فوهة القاذف نحو قاعدة اللهب.</a:t>
            </a:r>
          </a:p>
          <a:p>
            <a:pPr marL="4572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ar-AE" sz="1800" b="0" dirty="0"/>
              <a:t>الضغط على ذراع التشغيل.</a:t>
            </a:r>
          </a:p>
          <a:p>
            <a:pPr marL="4572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ar-AE" sz="1800" b="0" dirty="0"/>
              <a:t>تحريك مواد الإطفاء على قاعدة النار يميناً ويساراً</a:t>
            </a:r>
            <a:r>
              <a:rPr lang="en-US" sz="1800" b="0" dirty="0"/>
              <a:t> </a:t>
            </a:r>
            <a:endParaRPr lang="ar-SA" sz="1800" b="0" dirty="0"/>
          </a:p>
          <a:p>
            <a:pPr marL="0" indent="0" algn="r" rtl="1">
              <a:lnSpc>
                <a:spcPct val="150000"/>
              </a:lnSpc>
              <a:buNone/>
            </a:pPr>
            <a:r>
              <a:rPr lang="ar-AE" sz="1800" b="0" dirty="0"/>
              <a:t>عند استخدام مطفأة الحريق اليدوية في الهواء الطلق يراعى </a:t>
            </a:r>
            <a:endParaRPr lang="ar-SA" sz="1800" dirty="0"/>
          </a:p>
          <a:p>
            <a:pPr marL="0" indent="0" algn="r" rtl="1">
              <a:lnSpc>
                <a:spcPct val="150000"/>
              </a:lnSpc>
              <a:buNone/>
            </a:pPr>
            <a:r>
              <a:rPr lang="ar-AE" sz="1800" b="0" dirty="0"/>
              <a:t>الوقوف مع اتجاه الريح على مسافة مترين إلى</a:t>
            </a:r>
            <a:r>
              <a:rPr lang="en-US" sz="1800" b="0" dirty="0"/>
              <a:t> </a:t>
            </a:r>
            <a:r>
              <a:rPr lang="ar-AE" sz="1800" b="0" dirty="0"/>
              <a:t>ثلاثة أمتار من النار.</a:t>
            </a:r>
            <a:endParaRPr lang="ar-SA" sz="1800" b="0" dirty="0"/>
          </a:p>
          <a:p>
            <a:pPr marL="0" indent="0" algn="r" rtl="1">
              <a:lnSpc>
                <a:spcPct val="150000"/>
              </a:lnSpc>
              <a:buNone/>
            </a:pPr>
            <a:r>
              <a:rPr lang="ar-SA" sz="1800" dirty="0"/>
              <a:t>6.     </a:t>
            </a:r>
            <a:r>
              <a:rPr lang="ar-AE" sz="1800" b="0" dirty="0"/>
              <a:t>من الخطر استخدام مطفأة الحريق عشوائياً ، فقد يتعرض مستخدم المطفأة غير المناسبة لأخطار </a:t>
            </a:r>
            <a:r>
              <a:rPr lang="en-US" sz="1800" b="0" dirty="0"/>
              <a:t> </a:t>
            </a:r>
            <a:r>
              <a:rPr lang="ar-AE" sz="1800" b="0" dirty="0"/>
              <a:t>مواد الإطفاء مع لمواد آثيرة قد تنتج عن تفاعل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ar-AE" sz="2000" b="1" dirty="0"/>
              <a:t> 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A78BEE22-D68F-447E-B178-03FEBEBCB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6400"/>
            <a:ext cx="3352800" cy="2174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0713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كيفية استخدام طفايات الحريق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8" name="Content Placeholder 4" descr="3">
            <a:extLst>
              <a:ext uri="{FF2B5EF4-FFF2-40B4-BE49-F238E27FC236}">
                <a16:creationId xmlns:a16="http://schemas.microsoft.com/office/drawing/2014/main" id="{284981D4-4966-4401-955B-8023601AA3D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1153096"/>
            <a:ext cx="8839200" cy="5282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5713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قواعد عامة لإطفاء الحريق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20E776-7C62-419F-9C53-BE44A4A79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543" y="1868488"/>
            <a:ext cx="5554610" cy="3911603"/>
          </a:xfrm>
        </p:spPr>
        <p:txBody>
          <a:bodyPr>
            <a:normAutofit/>
          </a:bodyPr>
          <a:lstStyle/>
          <a:p>
            <a:pPr lvl="1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1800" b="0" dirty="0"/>
              <a:t>  </a:t>
            </a:r>
            <a:r>
              <a:rPr lang="ar-AE" sz="1800" b="0" dirty="0"/>
              <a:t>يجب أن تكافح الحريق مع اتجاه الريح وليس عكسها.</a:t>
            </a:r>
          </a:p>
          <a:p>
            <a:pPr lvl="1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1800" b="0" dirty="0"/>
              <a:t>  </a:t>
            </a:r>
            <a:r>
              <a:rPr lang="ar-AE" sz="1800" b="0" dirty="0"/>
              <a:t>ابعد عن الحريق بحوالي 5 - 3 مترا وابدأ بالمكافحة.</a:t>
            </a:r>
          </a:p>
          <a:p>
            <a:pPr lvl="1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1800" b="0" dirty="0"/>
              <a:t>  </a:t>
            </a:r>
            <a:r>
              <a:rPr lang="ar-AE" sz="1800" b="0" dirty="0"/>
              <a:t>لا تكافح الحريق من منتصفه بل من الأمام للخلف</a:t>
            </a:r>
            <a:r>
              <a:rPr lang="en-US" sz="1800" b="0" dirty="0"/>
              <a:t>.</a:t>
            </a:r>
          </a:p>
          <a:p>
            <a:pPr lvl="1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1800" b="0" dirty="0"/>
              <a:t>  </a:t>
            </a:r>
            <a:r>
              <a:rPr lang="ar-AE" sz="1800" b="0" dirty="0"/>
              <a:t>حرك الطفاية لليمين واليسار أثناء المكافحة.</a:t>
            </a:r>
          </a:p>
          <a:p>
            <a:pPr lvl="1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1800" b="0" dirty="0"/>
              <a:t>  ابدأ بمكافحة</a:t>
            </a:r>
            <a:r>
              <a:rPr lang="ar-AE" sz="1800" b="0" dirty="0"/>
              <a:t> الحريق دائما من أسفل إلى أعلى.</a:t>
            </a:r>
            <a:endParaRPr lang="en-US" sz="1800" b="0" dirty="0"/>
          </a:p>
          <a:p>
            <a:pPr lvl="1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1800" b="0" dirty="0"/>
              <a:t>  </a:t>
            </a:r>
            <a:r>
              <a:rPr lang="ar-AE" sz="1800" b="0" dirty="0"/>
              <a:t>لا تترك مكان الحريق قبل التأ</a:t>
            </a:r>
            <a:r>
              <a:rPr lang="ar-SA" sz="1800" b="0" dirty="0"/>
              <a:t>كد</a:t>
            </a:r>
            <a:r>
              <a:rPr lang="ar-AE" sz="1800" b="0" dirty="0"/>
              <a:t> من إطفاؤه تماما.</a:t>
            </a:r>
            <a:endParaRPr lang="en-US" sz="1800" b="0" dirty="0"/>
          </a:p>
        </p:txBody>
      </p:sp>
      <p:pic>
        <p:nvPicPr>
          <p:cNvPr id="10" name="Picture 9" descr="2">
            <a:extLst>
              <a:ext uri="{FF2B5EF4-FFF2-40B4-BE49-F238E27FC236}">
                <a16:creationId xmlns:a16="http://schemas.microsoft.com/office/drawing/2014/main" id="{11C9E9C4-80EC-46FA-B7BF-182EE98D719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544" y="1975020"/>
            <a:ext cx="4038600" cy="4521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2267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بطانية الحريق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E8FF4E-917B-446B-85CB-61665DD7F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6010" y="1572768"/>
            <a:ext cx="5558113" cy="3712464"/>
          </a:xfrm>
        </p:spPr>
        <p:txBody>
          <a:bodyPr>
            <a:normAutofit fontScale="85000" lnSpcReduction="20000"/>
          </a:bodyPr>
          <a:lstStyle/>
          <a:p>
            <a:pPr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100" b="0" dirty="0"/>
              <a:t>   </a:t>
            </a:r>
            <a:r>
              <a:rPr lang="ar-AE" sz="2100" b="0" dirty="0"/>
              <a:t>هي وسيلة إطفاء تعتمد أسلوب الخنق من خلال منع وصول </a:t>
            </a:r>
            <a:r>
              <a:rPr lang="ar-SA" sz="2100" b="0" dirty="0"/>
              <a:t>الاوكسجين</a:t>
            </a:r>
            <a:r>
              <a:rPr lang="ar-AE" sz="2100" b="0" dirty="0"/>
              <a:t> إلى المادة المشتعلة</a:t>
            </a:r>
            <a:r>
              <a:rPr lang="ar-SA" sz="2100" b="0" dirty="0"/>
              <a:t>.</a:t>
            </a:r>
            <a:endParaRPr lang="ar-AE" sz="2100" b="0" dirty="0"/>
          </a:p>
          <a:p>
            <a:pPr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100" b="0" dirty="0"/>
              <a:t>   </a:t>
            </a:r>
            <a:r>
              <a:rPr lang="ar-AE" sz="2100" b="0" dirty="0"/>
              <a:t>إمساك بطانية الحريق يكون من الطرف الأعلى بالقرب من سطح المادة المشتعلة. </a:t>
            </a:r>
          </a:p>
          <a:p>
            <a:pPr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100" b="0" dirty="0"/>
              <a:t>   </a:t>
            </a:r>
            <a:r>
              <a:rPr lang="ar-AE" sz="2100" b="0" dirty="0"/>
              <a:t>تحريك البطانية من الجهة العليا وبحذر لتغطية الجسم المشتعل أو الوعاء.</a:t>
            </a:r>
          </a:p>
          <a:p>
            <a:pPr algn="r" rtl="1">
              <a:lnSpc>
                <a:spcPct val="150000"/>
              </a:lnSpc>
              <a:buFont typeface="+mj-lt"/>
              <a:buAutoNum type="arabicPeriod"/>
            </a:pPr>
            <a:r>
              <a:rPr lang="ar-AE" sz="2100" b="0" dirty="0"/>
              <a:t> </a:t>
            </a:r>
            <a:r>
              <a:rPr lang="ar-SA" sz="2100" b="0" dirty="0"/>
              <a:t>   </a:t>
            </a:r>
            <a:r>
              <a:rPr lang="ar-AE" sz="2100" b="0" dirty="0"/>
              <a:t>يتوجب الحذر من السرعة العشوائية </a:t>
            </a:r>
            <a:r>
              <a:rPr lang="ar-SA" sz="2100" b="0" dirty="0"/>
              <a:t>خوفاً من</a:t>
            </a:r>
            <a:r>
              <a:rPr lang="ar-AE" sz="2100" b="0" dirty="0"/>
              <a:t> تحرّك النار</a:t>
            </a:r>
            <a:r>
              <a:rPr lang="ar-SA" sz="2100" b="0" dirty="0"/>
              <a:t> من</a:t>
            </a:r>
            <a:r>
              <a:rPr lang="ar-AE" sz="2100" b="0" dirty="0"/>
              <a:t> الجهة السفلية للبطانية باتجاه من يقوم بعملي</a:t>
            </a:r>
            <a:r>
              <a:rPr lang="ar-SA" sz="2100" b="0" dirty="0"/>
              <a:t>ة </a:t>
            </a:r>
            <a:r>
              <a:rPr lang="ar-AE" sz="2100" b="0" dirty="0"/>
              <a:t>الإطفاء، </a:t>
            </a:r>
            <a:r>
              <a:rPr lang="ar-SA" sz="2100" b="0" dirty="0"/>
              <a:t>و </a:t>
            </a:r>
            <a:r>
              <a:rPr lang="ar-AE" sz="2100" b="0" dirty="0"/>
              <a:t>إبقاء البطانية على المادة المشتعلة لحين التأ</a:t>
            </a:r>
            <a:r>
              <a:rPr lang="ar-SA" sz="2100" b="0" dirty="0"/>
              <a:t>كد</a:t>
            </a:r>
            <a:r>
              <a:rPr lang="ar-AE" sz="2100" b="0" dirty="0"/>
              <a:t> من إخماد النار</a:t>
            </a:r>
            <a:r>
              <a:rPr lang="ar-AE" sz="1900" b="0" dirty="0"/>
              <a:t>.</a:t>
            </a:r>
          </a:p>
          <a:p>
            <a:pPr algn="l" rtl="1"/>
            <a:endParaRPr lang="ar-AE" b="1" dirty="0"/>
          </a:p>
          <a:p>
            <a:pPr algn="l" rtl="1"/>
            <a:endParaRPr lang="en-US" b="1" dirty="0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30C4D1D1-0A21-40C3-9E3C-D7160F527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77" y="2286000"/>
            <a:ext cx="2550210" cy="325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40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766D21-5351-4F62-9D06-8424EB1DB5AB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5BA108-CE32-4953-9BB8-8BA3A930E80B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D441B9-5C69-4023-A11B-F4FF6ADF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5221"/>
            <a:ext cx="7886700" cy="777875"/>
          </a:xfrm>
        </p:spPr>
        <p:txBody>
          <a:bodyPr>
            <a:normAutofit/>
          </a:bodyPr>
          <a:lstStyle/>
          <a:p>
            <a:pPr algn="ctr"/>
            <a:r>
              <a:rPr lang="ar-SA" sz="3200" b="1" u="sng" dirty="0">
                <a:solidFill>
                  <a:srgbClr val="9B874F"/>
                </a:solidFill>
              </a:rPr>
              <a:t>احتياطات و إرشادات عامة</a:t>
            </a:r>
            <a:endParaRPr lang="en-US" sz="3200" b="1" u="sng" dirty="0">
              <a:solidFill>
                <a:srgbClr val="9B874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D16166-BB4E-41D4-B328-276B082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68488"/>
            <a:ext cx="333375" cy="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698" tIns="-19044" rIns="952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6B7C1E8-F47B-4322-93A6-868F3A171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1440976"/>
            <a:ext cx="4724400" cy="3579849"/>
          </a:xfrm>
        </p:spPr>
        <p:txBody>
          <a:bodyPr>
            <a:noAutofit/>
          </a:bodyPr>
          <a:lstStyle/>
          <a:p>
            <a:pPr marL="4572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ar-AE" sz="1800" b="0" dirty="0"/>
              <a:t>لا تر</a:t>
            </a:r>
            <a:r>
              <a:rPr lang="ar-SA" sz="1800" b="0" dirty="0"/>
              <a:t>كض</a:t>
            </a:r>
            <a:r>
              <a:rPr lang="ar-AE" sz="1800" b="0" dirty="0"/>
              <a:t> في المكان</a:t>
            </a:r>
            <a:r>
              <a:rPr lang="ar-SA" sz="1800" b="0" dirty="0"/>
              <a:t> </a:t>
            </a:r>
            <a:r>
              <a:rPr lang="ar-AE" sz="1800" b="0" dirty="0"/>
              <a:t>اذا اشتعلت النار في الملابس</a:t>
            </a:r>
            <a:r>
              <a:rPr lang="ar-SA" sz="1800" b="0" dirty="0"/>
              <a:t>:</a:t>
            </a:r>
          </a:p>
          <a:p>
            <a:pPr lvl="1" algn="r" rtl="1">
              <a:lnSpc>
                <a:spcPct val="150000"/>
              </a:lnSpc>
            </a:pPr>
            <a:r>
              <a:rPr lang="ar-SA" sz="1800" dirty="0"/>
              <a:t>قف</a:t>
            </a:r>
          </a:p>
          <a:p>
            <a:pPr lvl="1" algn="r" rtl="1">
              <a:lnSpc>
                <a:spcPct val="150000"/>
              </a:lnSpc>
            </a:pPr>
            <a:r>
              <a:rPr lang="ar-AE" sz="1800" b="0" dirty="0"/>
              <a:t>استلق على الأرض </a:t>
            </a:r>
            <a:endParaRPr lang="ar-SA" sz="1800" dirty="0"/>
          </a:p>
          <a:p>
            <a:pPr lvl="1" algn="r" rtl="1">
              <a:lnSpc>
                <a:spcPct val="150000"/>
              </a:lnSpc>
            </a:pPr>
            <a:r>
              <a:rPr lang="ar-AE" sz="1800" dirty="0"/>
              <a:t>وتدحرج</a:t>
            </a:r>
            <a:r>
              <a:rPr lang="ar-SA" sz="1800" dirty="0"/>
              <a:t> </a:t>
            </a:r>
          </a:p>
          <a:p>
            <a:pPr marL="4572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ar-AE" sz="1800" b="0" dirty="0"/>
              <a:t>اخمد اللهب بغطاء ثقيل باستخدام معطف أو بطانية عادية أو بطانية حريق إذا آ</a:t>
            </a:r>
            <a:r>
              <a:rPr lang="ar-SA" sz="1800" b="0" dirty="0"/>
              <a:t>كا</a:t>
            </a:r>
            <a:r>
              <a:rPr lang="ar-AE" sz="1800" b="0" dirty="0"/>
              <a:t>ن أي منها قريب منك</a:t>
            </a:r>
            <a:r>
              <a:rPr lang="ar-AE" sz="2000" b="0" dirty="0"/>
              <a:t>.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9F14F2DF-D802-4348-833B-EFC27CF0C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90" y="4706803"/>
            <a:ext cx="8003219" cy="1710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42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BB78AD-D750-41CF-A7C2-40033D2CAA40}"/>
              </a:ext>
            </a:extLst>
          </p:cNvPr>
          <p:cNvSpPr txBox="1"/>
          <p:nvPr/>
        </p:nvSpPr>
        <p:spPr>
          <a:xfrm>
            <a:off x="1295400" y="4744820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sng" strike="noStrike" kern="1200" cap="none" spc="0" normalizeH="0" baseline="0" noProof="0" dirty="0">
                <a:ln>
                  <a:noFill/>
                </a:ln>
                <a:solidFill>
                  <a:srgbClr val="9B874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شكراً لحسن استماعكم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srgbClr val="9B87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648783-2CA7-4C30-A747-BC8DDD5E9F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911090"/>
            <a:ext cx="2895600" cy="35394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80EBF-2AF3-4E4A-8D26-D1FBEDC5C282}"/>
              </a:ext>
            </a:extLst>
          </p:cNvPr>
          <p:cNvSpPr txBox="1">
            <a:spLocks/>
          </p:cNvSpPr>
          <p:nvPr/>
        </p:nvSpPr>
        <p:spPr>
          <a:xfrm>
            <a:off x="3505200" y="64501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4C668BA-DB24-4F04-AD74-702624B89ED0}"/>
              </a:ext>
            </a:extLst>
          </p:cNvPr>
          <p:cNvSpPr txBox="1">
            <a:spLocks/>
          </p:cNvSpPr>
          <p:nvPr/>
        </p:nvSpPr>
        <p:spPr>
          <a:xfrm>
            <a:off x="3505200" y="-142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  <a:endParaRPr kumimoji="0" lang="ar-AE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544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ed94768c-563f-46a5-8dbc-5b99b5695749">33HA43QPHE4U-1451286053-112</_dlc_DocId>
    <_dlc_DocIdUrl xmlns="ed94768c-563f-46a5-8dbc-5b99b5695749">
      <Url>https://portal.jac.mil.ae/_layouts/15/DocIdRedir.aspx?ID=33HA43QPHE4U-1451286053-112</Url>
      <Description>33HA43QPHE4U-1451286053-112</Description>
    </_dlc_DocIdUrl>
    <EnglishText xmlns="174c99b3-2bc5-4e92-a702-db2fe4beaa23">Emergency evacuation</EnglishText>
    <ArabicText xmlns="174c99b3-2bc5-4e92-a702-db2fe4beaa23">الاخلاء في حالات الطوارئ</ArabicText>
    <ParentLevel xmlns="44ee90ad-e09c-40df-86b3-4a26e1c86c52">11</ParentLevel>
    <LastEditedBy xmlns="174c99b3-2bc5-4e92-a702-db2fe4beaa23">14399</LastEditedBy>
    <Order0 xmlns="174c99b3-2bc5-4e92-a702-db2fe4beaa23">112</Order0>
    <DeletedOn xmlns="174c99b3-2bc5-4e92-a702-db2fe4beaa23" xsi:nil="true"/>
    <UploadedBy xmlns="174c99b3-2bc5-4e92-a702-db2fe4beaa23">14399</UploadedBy>
    <UploadedOn xmlns="174c99b3-2bc5-4e92-a702-db2fe4beaa23">2024-09-25T03:52:49+00:00</UploadedOn>
    <FileType xmlns="174c99b3-2bc5-4e92-a702-db2fe4beaa23">PPT</FileType>
    <IsDeleted xmlns="174c99b3-2bc5-4e92-a702-db2fe4beaa23">false</IsDeleted>
    <DeletedBy xmlns="174c99b3-2bc5-4e92-a702-db2fe4beaa23" xsi:nil="true"/>
    <LastEditedOn xmlns="174c99b3-2bc5-4e92-a702-db2fe4beaa23">2024-09-25T03:52:49+00:00</LastEditedOn>
    <DeleteReason xmlns="44ee90ad-e09c-40df-86b3-4a26e1c86c52" xsi:nil="true"/>
    <FilePathForAnonymous xmlns="44ee90ad-e09c-40df-86b3-4a26e1c86c52">/ExtranetSafetyFileLibrary/الاخلاء في حالات الطوارئ.pptx</FilePathForAnonymous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22EA34EDF544F8A179DB6F84EB080" ma:contentTypeVersion="21" ma:contentTypeDescription="Create a new document." ma:contentTypeScope="" ma:versionID="451a5e087189fd8b4ee1b58807a836fe">
  <xsd:schema xmlns:xsd="http://www.w3.org/2001/XMLSchema" xmlns:xs="http://www.w3.org/2001/XMLSchema" xmlns:p="http://schemas.microsoft.com/office/2006/metadata/properties" xmlns:ns2="ed94768c-563f-46a5-8dbc-5b99b5695749" xmlns:ns3="174c99b3-2bc5-4e92-a702-db2fe4beaa23" xmlns:ns4="44ee90ad-e09c-40df-86b3-4a26e1c86c52" targetNamespace="http://schemas.microsoft.com/office/2006/metadata/properties" ma:root="true" ma:fieldsID="97dae3388a138dbf6677c5ce79997533" ns2:_="" ns3:_="" ns4:_="">
    <xsd:import namespace="ed94768c-563f-46a5-8dbc-5b99b5695749"/>
    <xsd:import namespace="174c99b3-2bc5-4e92-a702-db2fe4beaa23"/>
    <xsd:import namespace="44ee90ad-e09c-40df-86b3-4a26e1c86c5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Order0" minOccurs="0"/>
                <xsd:element ref="ns3:IsDeleted" minOccurs="0"/>
                <xsd:element ref="ns3:DeletedBy" minOccurs="0"/>
                <xsd:element ref="ns3:DeletedOn" minOccurs="0"/>
                <xsd:element ref="ns3:UploadedBy" minOccurs="0"/>
                <xsd:element ref="ns3:UploadedOn" minOccurs="0"/>
                <xsd:element ref="ns3:FileType" minOccurs="0"/>
                <xsd:element ref="ns3:LastEditedBy" minOccurs="0"/>
                <xsd:element ref="ns3:LastEditedOn" minOccurs="0"/>
                <xsd:element ref="ns3:ArabicText" minOccurs="0"/>
                <xsd:element ref="ns3:EnglishText" minOccurs="0"/>
                <xsd:element ref="ns4:ParentLevel" minOccurs="0"/>
                <xsd:element ref="ns4:ParentLevel_x003a_Title" minOccurs="0"/>
                <xsd:element ref="ns4:ParentLevel_x003a_ID" minOccurs="0"/>
                <xsd:element ref="ns4:DeleteReason" minOccurs="0"/>
                <xsd:element ref="ns4:FilePathForAnonymo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94768c-563f-46a5-8dbc-5b99b569574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4c99b3-2bc5-4e92-a702-db2fe4beaa23" elementFormDefault="qualified">
    <xsd:import namespace="http://schemas.microsoft.com/office/2006/documentManagement/types"/>
    <xsd:import namespace="http://schemas.microsoft.com/office/infopath/2007/PartnerControls"/>
    <xsd:element name="Order0" ma:index="11" nillable="true" ma:displayName="Order" ma:internalName="Order0" ma:percentage="FALSE">
      <xsd:simpleType>
        <xsd:restriction base="dms:Number"/>
      </xsd:simpleType>
    </xsd:element>
    <xsd:element name="IsDeleted" ma:index="12" nillable="true" ma:displayName="IsDeleted" ma:default="0" ma:internalName="IsDeleted">
      <xsd:simpleType>
        <xsd:restriction base="dms:Boolean"/>
      </xsd:simpleType>
    </xsd:element>
    <xsd:element name="DeletedBy" ma:index="13" nillable="true" ma:displayName="DeletedBy" ma:internalName="DeletedBy">
      <xsd:simpleType>
        <xsd:restriction base="dms:Text">
          <xsd:maxLength value="255"/>
        </xsd:restriction>
      </xsd:simpleType>
    </xsd:element>
    <xsd:element name="DeletedOn" ma:index="14" nillable="true" ma:displayName="DeletedOn" ma:format="DateTime" ma:internalName="DeletedOn">
      <xsd:simpleType>
        <xsd:restriction base="dms:DateTime"/>
      </xsd:simpleType>
    </xsd:element>
    <xsd:element name="UploadedBy" ma:index="15" nillable="true" ma:displayName="UploadedBy" ma:internalName="UploadedBy">
      <xsd:simpleType>
        <xsd:restriction base="dms:Text">
          <xsd:maxLength value="255"/>
        </xsd:restriction>
      </xsd:simpleType>
    </xsd:element>
    <xsd:element name="UploadedOn" ma:index="16" nillable="true" ma:displayName="UploadedOn" ma:format="DateTime" ma:internalName="UploadedOn">
      <xsd:simpleType>
        <xsd:restriction base="dms:DateTime"/>
      </xsd:simpleType>
    </xsd:element>
    <xsd:element name="FileType" ma:index="17" nillable="true" ma:displayName="FileType" ma:default="PDF" ma:format="Dropdown" ma:internalName="FileType">
      <xsd:simpleType>
        <xsd:restriction base="dms:Choice">
          <xsd:enumeration value="PDF"/>
          <xsd:enumeration value="Word"/>
          <xsd:enumeration value="Excel"/>
          <xsd:enumeration value="PPT"/>
        </xsd:restriction>
      </xsd:simpleType>
    </xsd:element>
    <xsd:element name="LastEditedBy" ma:index="18" nillable="true" ma:displayName="LastEditedBy" ma:internalName="LastEditedBy">
      <xsd:simpleType>
        <xsd:restriction base="dms:Text">
          <xsd:maxLength value="255"/>
        </xsd:restriction>
      </xsd:simpleType>
    </xsd:element>
    <xsd:element name="LastEditedOn" ma:index="19" nillable="true" ma:displayName="LastEditedOn" ma:format="DateTime" ma:internalName="LastEditedOn">
      <xsd:simpleType>
        <xsd:restriction base="dms:DateTime"/>
      </xsd:simpleType>
    </xsd:element>
    <xsd:element name="ArabicText" ma:index="20" nillable="true" ma:displayName="ArabicText" ma:internalName="ArabicText">
      <xsd:simpleType>
        <xsd:restriction base="dms:Text">
          <xsd:maxLength value="255"/>
        </xsd:restriction>
      </xsd:simpleType>
    </xsd:element>
    <xsd:element name="EnglishText" ma:index="21" nillable="true" ma:displayName="EnglishText" ma:internalName="EnglishTex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ee90ad-e09c-40df-86b3-4a26e1c86c52" elementFormDefault="qualified">
    <xsd:import namespace="http://schemas.microsoft.com/office/2006/documentManagement/types"/>
    <xsd:import namespace="http://schemas.microsoft.com/office/infopath/2007/PartnerControls"/>
    <xsd:element name="ParentLevel" ma:index="22" nillable="true" ma:displayName="ParentLevel" ma:list="{fac798dd-970b-40bf-a854-b01541f6b2f6}" ma:internalName="ParentLevel" ma:showField="ID">
      <xsd:simpleType>
        <xsd:restriction base="dms:Lookup"/>
      </xsd:simpleType>
    </xsd:element>
    <xsd:element name="ParentLevel_x003a_Title" ma:index="23" nillable="true" ma:displayName="ParentLevel:Title" ma:list="{fac798dd-970b-40bf-a854-b01541f6b2f6}" ma:internalName="ParentLevel_x003a_Title" ma:readOnly="true" ma:showField="Title" ma:web="ed94768c-563f-46a5-8dbc-5b99b5695749">
      <xsd:simpleType>
        <xsd:restriction base="dms:Lookup"/>
      </xsd:simpleType>
    </xsd:element>
    <xsd:element name="ParentLevel_x003a_ID" ma:index="24" nillable="true" ma:displayName="ParentLevel:ID" ma:list="{fac798dd-970b-40bf-a854-b01541f6b2f6}" ma:internalName="ParentLevel_x003a_ID" ma:readOnly="true" ma:showField="ID" ma:web="ed94768c-563f-46a5-8dbc-5b99b5695749">
      <xsd:simpleType>
        <xsd:restriction base="dms:Lookup"/>
      </xsd:simpleType>
    </xsd:element>
    <xsd:element name="DeleteReason" ma:index="25" nillable="true" ma:displayName="DeleteReason" ma:format="Dropdown" ma:internalName="DeleteReason">
      <xsd:simpleType>
        <xsd:restriction base="dms:Choice">
          <xsd:enumeration value="DeleteProcess"/>
          <xsd:enumeration value="UpdateProcess"/>
        </xsd:restriction>
      </xsd:simpleType>
    </xsd:element>
    <xsd:element name="FilePathForAnonymous" ma:index="26" nillable="true" ma:displayName="FilePathForAnonymous" ma:internalName="FilePathForAnonymou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6532B4-565B-4435-8AF7-38568BD45CE2}"/>
</file>

<file path=customXml/itemProps2.xml><?xml version="1.0" encoding="utf-8"?>
<ds:datastoreItem xmlns:ds="http://schemas.openxmlformats.org/officeDocument/2006/customXml" ds:itemID="{4826B11D-6808-4673-B29C-DCFD74B23D72}"/>
</file>

<file path=customXml/itemProps3.xml><?xml version="1.0" encoding="utf-8"?>
<ds:datastoreItem xmlns:ds="http://schemas.openxmlformats.org/officeDocument/2006/customXml" ds:itemID="{1B1E961C-3381-4A17-99A1-765FE9E314D4}"/>
</file>

<file path=customXml/itemProps4.xml><?xml version="1.0" encoding="utf-8"?>
<ds:datastoreItem xmlns:ds="http://schemas.openxmlformats.org/officeDocument/2006/customXml" ds:itemID="{90AE6DE8-36C1-47AB-8AFD-6F9A77ED0BD3}"/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550</Words>
  <Application>Microsoft Office PowerPoint</Application>
  <PresentationFormat>On-screen Show (4:3)</PresentationFormat>
  <Paragraphs>116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Custom Design</vt:lpstr>
      <vt:lpstr>2_Custom Design</vt:lpstr>
      <vt:lpstr>1_Custom Design</vt:lpstr>
      <vt:lpstr>PowerPoint Presentation</vt:lpstr>
      <vt:lpstr>عناصر المحاضرة</vt:lpstr>
      <vt:lpstr>المقدمة</vt:lpstr>
      <vt:lpstr>أهداف الخطة</vt:lpstr>
      <vt:lpstr>عناصر خطة الإخلاء</vt:lpstr>
      <vt:lpstr>واجبات فريق الإخلاء</vt:lpstr>
      <vt:lpstr>الخطوات التي يجب إتباعها</vt:lpstr>
      <vt:lpstr>الصرف عند حدوث حريق</vt:lpstr>
      <vt:lpstr>أنواع طفايات الحريق</vt:lpstr>
      <vt:lpstr>كيفية استخدام طفاية الحريق</vt:lpstr>
      <vt:lpstr>كيفية استخدام طفايات الحريق</vt:lpstr>
      <vt:lpstr>قواعد عامة لإطفاء الحريق</vt:lpstr>
      <vt:lpstr>بطانية الحريق</vt:lpstr>
      <vt:lpstr>احتياطات و إرشادات عامة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الاخلاء في حالات الطوارئ</dc:title>
  <dc:creator>Mohammed Baqi</dc:creator>
  <cp:lastModifiedBy>رائد طيار  /عبدالله حمود منصر علي</cp:lastModifiedBy>
  <cp:revision>38</cp:revision>
  <dcterms:created xsi:type="dcterms:W3CDTF">2006-08-16T00:00:00Z</dcterms:created>
  <dcterms:modified xsi:type="dcterms:W3CDTF">2024-09-10T04:32:48Z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0x01010018622EA34EDF544F8A179DB6F84EB080</vt:lpwstr>
  </property>
  <property fmtid="{D5CDD505-2E9C-101B-9397-08002B2CF9AE}" pid="3" name="_dlc_DocIdItemGuid">
    <vt:lpwstr>ffcb5280-faa4-43b5-b736-caf95c7381e2</vt:lpwstr>
  </property>
</Properties>
</file>